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3F4F6"/>
                </a:solidFill>
                <a:latin typeface="Arial"/>
              </a:defRPr>
            </a:pPr>
            <a:r>
              <a:t>TinyML Smart Pantry &amp; Waste Reducer</a:t>
            </a:r>
          </a:p>
          <a:p>
            <a:pPr>
              <a:spcAft>
                <a:spcPts val="4000"/>
              </a:spcAft>
              <a:defRPr sz="1800">
                <a:solidFill>
                  <a:srgbClr val="2DD4BF"/>
                </a:solidFill>
                <a:latin typeface="Arial"/>
              </a:defRPr>
            </a:pPr>
            <a:r>
              <a:t>An Engineering Journey: Physical Constraints, Optimization, and Lessons Learned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Hardware Target: Arduino Nano 33 BLE Sense + OV7675 Camera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Core Vision: Privacy-Preserving Food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The Pantry Problem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Goal: </a:t>
            </a:r>
            <a:r>
              <a:rPr b="0">
                <a:solidFill>
                  <a:srgbClr val="9CA3AF"/>
                </a:solidFill>
              </a:rPr>
              <a:t>Automatically log groceries at the pantry entrypoint and estimate expiration using USDA FoodKeeper to reduce waste.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Edge Privacy: </a:t>
            </a:r>
            <a:r>
              <a:rPr b="0">
                <a:solidFill>
                  <a:srgbClr val="9CA3AF"/>
                </a:solidFill>
              </a:rPr>
              <a:t>Perform all computer vision inference locally on-device. Images never leave the microcontroller.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Trigger Flow: </a:t>
            </a:r>
            <a:r>
              <a:rPr b="0">
                <a:solidFill>
                  <a:srgbClr val="9CA3AF"/>
                </a:solidFill>
              </a:rPr>
              <a:t>Pantry door sensor activates the camera, captures a short image, and transmits a simple event label + timestamp over BLE/Serial.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923C"/>
                </a:solidFill>
                <a:latin typeface="Arial"/>
              </a:defRPr>
            </a:pPr>
            <a:r>
              <a:t>Target Hardware Constraints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Processor: </a:t>
            </a:r>
            <a:r>
              <a:rPr b="0">
                <a:solidFill>
                  <a:srgbClr val="9CA3AF"/>
                </a:solidFill>
              </a:rPr>
              <a:t>ARM Cortex-M4F microcontroller running at 64 MHz.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Flash Memory: </a:t>
            </a:r>
            <a:r>
              <a:rPr b="0">
                <a:solidFill>
                  <a:srgbClr val="9CA3AF"/>
                </a:solidFill>
              </a:rPr>
              <a:t>1 MB - plenty of space for compiling optimized neural net binaries.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SRAM Memory: </a:t>
            </a:r>
            <a:r>
              <a:rPr b="0">
                <a:solidFill>
                  <a:srgbClr val="9CA3AF"/>
                </a:solidFill>
              </a:rPr>
              <a:t>256 KB total. Crucially, Mbed OS and BLE firmware consume ~120-160 KB, leaving only 80-100 KB for model activations!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Sensor: </a:t>
            </a:r>
            <a:r>
              <a:rPr b="0">
                <a:solidFill>
                  <a:srgbClr val="9CA3AF"/>
                </a:solidFill>
              </a:rPr>
              <a:t>OV7675 image sensor capturing low-resolution QQVGA frames.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Model Design Iterations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3F4F6"/>
                </a:solidFill>
                <a:latin typeface="Arial"/>
              </a:defRPr>
            </a:pPr>
            <a:r>
              <a:t>3-Layer Grayscale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Input: 96x96x1 (Grayscale)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Architecture: 3 Conv2D layers with Batch Normalization &amp; ReLU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Knowledge Distillation: Student model trained to mimic a larger MobileNetV2 RGB teacher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Quantization: Post-training quantized to 8-bit integer weights/activations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2DD4BF"/>
                </a:solidFill>
                <a:latin typeface="Arial"/>
              </a:defRPr>
            </a:pPr>
            <a:r>
              <a:t>3-Layer RGB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Input: 96x96x3 (RGB Color)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Architecture: 3 Conv2D layers with Batch Normalization &amp; ReLU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Why Color: Added RGB channels to provide color boundaries (essential for telling foods apart)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Quantization: Quantization-aware training (QAT) to maintain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B923C"/>
                </a:solidFill>
                <a:latin typeface="Arial"/>
              </a:defRPr>
            </a:pPr>
            <a:r>
              <a:t>4-Layer RGB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Input: 96x96x3 (RGB Color)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Architecture: Expanded to 4 Conv2D layers for higher capacity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Goal: Squeeze maximum capacity to correctly classify complex dishes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•  Quantization: QAT to INT8 for local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Model Architecture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-layer gray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45920"/>
            <a:ext cx="1993392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-layer 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645920"/>
            <a:ext cx="1170432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-layer 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645920"/>
            <a:ext cx="11704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Results &amp; The Physical SRAM Wall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92024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Model 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Input Space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Val Accuracy (QAT)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Binary Size (Flash)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DD4BF"/>
                          </a:solidFill>
                          <a:latin typeface="Arial"/>
                        </a:defRPr>
                      </a:pPr>
                      <a:r>
                        <a:t>Peak Activations (RAM)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3-Layer Grayscale (Distilled)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96x96x1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~149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~305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3-Layer RGB (Float)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96x96x3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~150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Exceeds SRAM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4-Layer RGB (Best Capacity)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96x96x3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72.2%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~150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~323 KB (Exceeds SRAM)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B923C"/>
                          </a:solidFill>
                          <a:latin typeface="Arial"/>
                        </a:defRPr>
                      </a:pPr>
                      <a:r>
                        <a:t>Nano 33 BLE Hardware Limit</a:t>
                      </a:r>
                    </a:p>
                  </a:txBody>
                  <a:tcPr>
                    <a:solidFill>
                      <a:srgbClr val="45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B923C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45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B923C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45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B923C"/>
                          </a:solidFill>
                          <a:latin typeface="Arial"/>
                        </a:defRPr>
                      </a:pPr>
                      <a:r>
                        <a:t>1 MB (Flash limit)</a:t>
                      </a:r>
                    </a:p>
                  </a:txBody>
                  <a:tcPr>
                    <a:solidFill>
                      <a:srgbClr val="45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B923C"/>
                          </a:solidFill>
                          <a:latin typeface="Arial"/>
                        </a:defRPr>
                      </a:pPr>
                      <a:r>
                        <a:t>80-100 KB (SRAM limit)</a:t>
                      </a:r>
                    </a:p>
                  </a:txBody>
                  <a:tcPr>
                    <a:solidFill>
                      <a:srgbClr val="451A1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923C"/>
                </a:solidFill>
                <a:latin typeface="Arial"/>
              </a:defRPr>
            </a:pPr>
            <a:r>
              <a:t>Critical Bottleneck Analysis: RAM vs. Flash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In TinyML, model binary size (stored in Flash) is rarely the primary constraint; activation memory (RAM) is the hard boundary. While our 4-layer RGB model compressed to 150 KB and easily fit within the 1 MB Flash, its peak activation tensors required ~323 KB. This far exceeds the ~80-100 KB available SRAM on the Arduino, causing compilation and runtime allocation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Pivot &amp; Dataset Domain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The Pivot: Pizza vs. Apple Pie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Binary Scope: </a:t>
            </a:r>
            <a:r>
              <a:rPr b="0">
                <a:solidFill>
                  <a:srgbClr val="9CA3AF"/>
                </a:solidFill>
              </a:rPr>
              <a:t>To bypass memory constraints, we reduced the problem to a simple binary task (Pizza vs. Apple Pie).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Feature Overlap: </a:t>
            </a:r>
            <a:r>
              <a:rPr b="0">
                <a:solidFill>
                  <a:srgbClr val="9CA3AF"/>
                </a:solidFill>
              </a:rPr>
              <a:t>Both foods are round, crust-based, and baked. Distinguishing them without color (grayscale) and at 96x96 resolution remained highly unreliable.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Resolution Limits: </a:t>
            </a:r>
            <a:r>
              <a:rPr b="0">
                <a:solidFill>
                  <a:srgbClr val="9CA3AF"/>
                </a:solidFill>
              </a:rPr>
              <a:t>96x96 resolution completely washes away the fine texture detail required to identify structural features of dishes.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923C"/>
                </a:solidFill>
                <a:latin typeface="Arial"/>
              </a:defRPr>
            </a:pPr>
            <a:r>
              <a:t>Dataset Domain Mismatch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Generalist Data: </a:t>
            </a:r>
            <a:r>
              <a:rPr b="0">
                <a:solidFill>
                  <a:srgbClr val="9CA3AF"/>
                </a:solidFill>
              </a:rPr>
              <a:t>Food-101 is web-scraped for general computer vision tasks, not industrial edge sensors.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Label Noise: </a:t>
            </a:r>
            <a:r>
              <a:rPr b="0">
                <a:solidFill>
                  <a:srgbClr val="9CA3AF"/>
                </a:solidFill>
              </a:rPr>
              <a:t>Many images contain busy backgrounds, macro shots, or people (e.g. a person taking a selfie with a cake is labeled 'cheesecake').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Pantry Gap: </a:t>
            </a:r>
            <a:r>
              <a:rPr b="0">
                <a:solidFill>
                  <a:srgbClr val="9CA3AF"/>
                </a:solidFill>
              </a:rPr>
              <a:t>A network trained on diverse web photos cannot bridge the domain gap to top-down, fixed-lighting pantry camera captures.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Demo: What the Hardware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5050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DD4BF"/>
                </a:solidFill>
                <a:latin typeface="Consolas"/>
              </a:defRPr>
            </a:pPr>
            <a:r>
              <a:t>Arduino ASCII Serial Dump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. . . x x # # # # # x x . .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. x x # # # # # # # # # x .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x # # # # # # # # # # # # x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x # # # # # # # # # # # # x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x # # # # # # # # # # # # # # x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x # # # # # . . . . # # # # # x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# # # # x . . . . . . x # # # #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# # # x . . . . . . . . x # # #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# # # x . . . . . . . . x # # #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# # # # x . . . . . . x # # # #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x # # # # # . . . . # # # # # x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x # # # # # # # # # # # # # # x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x # # # # # # # # # # # # x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x # # # # # # # # # # # # x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. x x # # # # # # # # # x . . .  </a:t>
            </a:r>
          </a:p>
          <a:p>
            <a:pPr>
              <a:spcAft>
                <a:spcPts val="100"/>
              </a:spcAft>
              <a:defRPr sz="1100">
                <a:solidFill>
                  <a:srgbClr val="22C55E"/>
                </a:solidFill>
                <a:latin typeface="Consolas"/>
              </a:defRPr>
            </a:pPr>
            <a:r>
              <a:t>  . . . . x x # # # # # x x . . . .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The Reality of 'Hardware Eye'</a:t>
            </a:r>
          </a:p>
          <a:p>
            <a:pPr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•  On-Device Print: </a:t>
            </a:r>
            <a:r>
              <a:rPr b="0">
                <a:solidFill>
                  <a:srgbClr val="9CA3AF"/>
                </a:solidFill>
              </a:rPr>
              <a:t>Generated directly on the Arduino Nano using our visualDebugPrint() helper, which outputs a 24x24 ASCII grid downsampled from the 96x96 grayscale buffer.</a:t>
            </a:r>
          </a:p>
          <a:p>
            <a:pPr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•  Contrast &amp; Scale: </a:t>
            </a:r>
            <a:r>
              <a:rPr b="0">
                <a:solidFill>
                  <a:srgbClr val="9CA3AF"/>
                </a:solidFill>
              </a:rPr>
              <a:t>Highlights the blocky, low-contrast grayscale crop that the model is forced to interpret.</a:t>
            </a:r>
          </a:p>
          <a:p>
            <a:pPr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•  Explainable Failure: </a:t>
            </a:r>
            <a:r>
              <a:rPr b="0">
                <a:solidFill>
                  <a:srgbClr val="9CA3AF"/>
                </a:solidFill>
              </a:rPr>
              <a:t>Visualizing this input makes it immediately clear why classification fails: color, edge, and texture details are completely washed away, leaving only generic shapes.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Real Snapshot: Reality vs. Camera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8521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 of reality and what camera s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54864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645920"/>
            <a:ext cx="44805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9202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F3F4F6"/>
                </a:solidFill>
                <a:latin typeface="Arial"/>
              </a:defRPr>
            </a:pPr>
            <a:r>
              <a:t>Visual Gap in Practice</a:t>
            </a:r>
          </a:p>
          <a:p>
            <a:pPr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•  Human Perspective: </a:t>
            </a:r>
            <a:r>
              <a:rPr b="0">
                <a:solidFill>
                  <a:srgbClr val="9CA3AF"/>
                </a:solidFill>
              </a:rPr>
              <a:t>Full-resolution, high-contrast, color-rich image where food details and boundaries are distinct.</a:t>
            </a:r>
          </a:p>
          <a:p>
            <a:pPr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•  Microcontroller View: </a:t>
            </a:r>
            <a:r>
              <a:rPr b="0">
                <a:solidFill>
                  <a:srgbClr val="9CA3AF"/>
                </a:solidFill>
              </a:rPr>
              <a:t>Grayscale, 96x96 resolution downsampled image where colors merge and edges blur.</a:t>
            </a:r>
          </a:p>
          <a:p>
            <a:pPr>
              <a:spcAft>
                <a:spcPts val="1200"/>
              </a:spcAft>
              <a:defRPr b="1" sz="1400">
                <a:solidFill>
                  <a:srgbClr val="2DD4BF"/>
                </a:solidFill>
              </a:defRPr>
            </a:pPr>
            <a:r>
              <a:t>•  Why It Matters: </a:t>
            </a:r>
            <a:r>
              <a:rPr b="0">
                <a:solidFill>
                  <a:srgbClr val="9CA3AF"/>
                </a:solidFill>
              </a:rPr>
              <a:t>Differentiating complex dishes like pizza vs. cheesecake requires color and texture. When reduced to a blocky silhouette, the classification boundaries overlap completely, leading to high-uncertainty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6400" b="1">
                <a:solidFill>
                  <a:srgbClr val="2DD4BF"/>
                </a:solidFill>
                <a:latin typeface="Arial"/>
              </a:defRPr>
            </a:pPr>
            <a:r>
              <a:t>DEMO TIME!</a:t>
            </a:r>
          </a:p>
          <a:p>
            <a:pPr algn="ctr">
              <a:defRPr sz="1800">
                <a:solidFill>
                  <a:srgbClr val="9CA3AF"/>
                </a:solidFill>
                <a:latin typeface="Arial"/>
              </a:defRPr>
            </a:pPr>
            <a:r>
              <a:t>Let's watch the real-time pantry logging in action...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rial"/>
              </a:defRPr>
            </a:pPr>
            <a:r>
              <a:t>TINYML SMART PANTRY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Lessons Learned &amp; Edge CV Realities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DD4BF"/>
                </a:solidFill>
                <a:latin typeface="Arial"/>
              </a:defRPr>
            </a:pPr>
            <a:r>
              <a:t>Key Takeaways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RAM is the Hard Constraint: </a:t>
            </a:r>
            <a:r>
              <a:rPr b="0">
                <a:solidFill>
                  <a:srgbClr val="9CA3AF"/>
                </a:solidFill>
              </a:rPr>
              <a:t>In TinyML, memory footprint of weights (Flash) is secondary. Activation tensors (RAM) determine model feasibility.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Sufficient Feature Size: </a:t>
            </a:r>
            <a:r>
              <a:rPr b="0">
                <a:solidFill>
                  <a:srgbClr val="9CA3AF"/>
                </a:solidFill>
              </a:rPr>
              <a:t>Vision classification requires minimum information capacity. Grayscale 96x96 images lack the entropy required to differentiate complex dishes.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Constraint-Driven Scope: </a:t>
            </a:r>
            <a:r>
              <a:rPr b="0">
                <a:solidFill>
                  <a:srgbClr val="9CA3AF"/>
                </a:solidFill>
              </a:rPr>
              <a:t>CV on sub-256KB RAM devices is only practical for high-contrast, geometric shapes under rigid lighting (e.g., bar codes, simple gestures).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B923C"/>
                </a:solidFill>
                <a:latin typeface="Arial"/>
              </a:defRPr>
            </a:pPr>
            <a:r>
              <a:t>Future Directions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Hardware Upgrades: </a:t>
            </a:r>
            <a:r>
              <a:rPr b="0">
                <a:solidFill>
                  <a:srgbClr val="9CA3AF"/>
                </a:solidFill>
              </a:rPr>
              <a:t>Select microcontrollers with external PSRAM (e.g., ESP32-S3) to support larger activation buffers without scaling down resolution.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Sensor Fusion: </a:t>
            </a:r>
            <a:r>
              <a:rPr b="0">
                <a:solidFill>
                  <a:srgbClr val="9CA3AF"/>
                </a:solidFill>
              </a:rPr>
              <a:t>Integrate low-power non-vision sensors, such as gas/volatile compound sensors, weight cells, or temperature sensors to track freshness directly.</a:t>
            </a:r>
          </a:p>
          <a:p>
            <a:pPr>
              <a:spcAft>
                <a:spcPts val="1200"/>
              </a:spcAft>
              <a:defRPr b="1" sz="1400">
                <a:solidFill>
                  <a:srgbClr val="F3F4F6"/>
                </a:solidFill>
              </a:defRPr>
            </a:pPr>
            <a:r>
              <a:t>•  Custom In-Situ Data: </a:t>
            </a:r>
            <a:r>
              <a:rPr b="0">
                <a:solidFill>
                  <a:srgbClr val="9CA3AF"/>
                </a:solidFill>
              </a:rPr>
              <a:t>Collect a custom in-situ dataset inside the fridge itself rather than relying on noisy web-scraped databases like Food-101.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