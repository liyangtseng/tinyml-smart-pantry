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6" d="100"/>
          <a:sy n="126" d="100"/>
        </p:scale>
        <p:origin x="672" y="7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48495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4000" b="1">
                <a:solidFill>
                  <a:srgbClr val="F3F4F6"/>
                </a:solidFill>
                <a:latin typeface="Arial"/>
              </a:defRPr>
            </a:pPr>
            <a:r>
              <a:rPr dirty="0" err="1"/>
              <a:t>TinyML</a:t>
            </a:r>
            <a:r>
              <a:rPr dirty="0"/>
              <a:t> Smart Pantry &amp; Waste Reducer</a:t>
            </a:r>
          </a:p>
          <a:p>
            <a:pPr>
              <a:spcAft>
                <a:spcPts val="4000"/>
              </a:spcAft>
              <a:defRPr sz="1800">
                <a:solidFill>
                  <a:srgbClr val="2DD4BF"/>
                </a:solidFill>
                <a:latin typeface="Arial"/>
              </a:defRPr>
            </a:pPr>
            <a:r>
              <a:rPr dirty="0"/>
              <a:t>An Engineering Journey: Physical Constraints, Optimization, and Lessons Learned</a:t>
            </a:r>
          </a:p>
          <a:p>
            <a:pPr>
              <a:defRPr sz="1400">
                <a:solidFill>
                  <a:srgbClr val="9CA3AF"/>
                </a:solidFill>
                <a:latin typeface="Arial"/>
              </a:defRPr>
            </a:pPr>
            <a:r>
              <a:rPr dirty="0"/>
              <a:t>Hardware Target: Arduino Nano 33 BLE Sense + OV7675 Camera</a:t>
            </a:r>
            <a:endParaRPr lang="en-US" dirty="0"/>
          </a:p>
          <a:p>
            <a:pPr>
              <a:defRPr sz="1400">
                <a:solidFill>
                  <a:srgbClr val="9CA3AF"/>
                </a:solidFill>
                <a:latin typeface="Arial"/>
              </a:defRPr>
            </a:pPr>
            <a:r>
              <a:rPr lang="en-US" altLang="zh-TW" dirty="0"/>
              <a:t>Team: Daniel Tseng, Miles Chin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rial"/>
              </a:defRPr>
            </a:pPr>
            <a:r>
              <a:t>TINYML SMART PANTRY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Arial"/>
              </a:defRPr>
            </a:pPr>
            <a:r>
              <a:t>Core Vision: Privacy-Preserving Food Tracking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2DD4BF"/>
                </a:solidFill>
                <a:latin typeface="Arial"/>
              </a:defRPr>
            </a:pPr>
            <a:r>
              <a:rPr dirty="0"/>
              <a:t>The Pantry Problem</a:t>
            </a:r>
          </a:p>
          <a:p>
            <a:pPr>
              <a:spcAft>
                <a:spcPts val="1200"/>
              </a:spcAft>
              <a:defRPr sz="1400" b="1">
                <a:solidFill>
                  <a:srgbClr val="F3F4F6"/>
                </a:solidFill>
              </a:defRPr>
            </a:pPr>
            <a:r>
              <a:rPr dirty="0"/>
              <a:t>•  Goal: </a:t>
            </a:r>
            <a:r>
              <a:rPr b="0" dirty="0">
                <a:solidFill>
                  <a:srgbClr val="9CA3AF"/>
                </a:solidFill>
              </a:rPr>
              <a:t>Automatically log groceries at the pantry </a:t>
            </a:r>
            <a:r>
              <a:rPr b="0" dirty="0" err="1">
                <a:solidFill>
                  <a:srgbClr val="9CA3AF"/>
                </a:solidFill>
              </a:rPr>
              <a:t>entrypoint</a:t>
            </a:r>
            <a:r>
              <a:rPr b="0" dirty="0">
                <a:solidFill>
                  <a:srgbClr val="9CA3AF"/>
                </a:solidFill>
              </a:rPr>
              <a:t> and estimate expiration using USDA </a:t>
            </a:r>
            <a:r>
              <a:rPr b="0" dirty="0" err="1">
                <a:solidFill>
                  <a:srgbClr val="9CA3AF"/>
                </a:solidFill>
              </a:rPr>
              <a:t>FoodKeeper</a:t>
            </a:r>
            <a:r>
              <a:rPr b="0" dirty="0">
                <a:solidFill>
                  <a:srgbClr val="9CA3AF"/>
                </a:solidFill>
              </a:rPr>
              <a:t> to reduce waste.</a:t>
            </a:r>
          </a:p>
          <a:p>
            <a:pPr>
              <a:spcAft>
                <a:spcPts val="1200"/>
              </a:spcAft>
              <a:defRPr sz="1400" b="1">
                <a:solidFill>
                  <a:srgbClr val="F3F4F6"/>
                </a:solidFill>
              </a:defRPr>
            </a:pPr>
            <a:r>
              <a:rPr dirty="0"/>
              <a:t>•  Edge Privacy: </a:t>
            </a:r>
            <a:r>
              <a:rPr b="0" dirty="0">
                <a:solidFill>
                  <a:srgbClr val="9CA3AF"/>
                </a:solidFill>
              </a:rPr>
              <a:t>Perform all computer vision inference locally on-device. Images never leave the microcontroller.</a:t>
            </a:r>
          </a:p>
          <a:p>
            <a:pPr>
              <a:spcAft>
                <a:spcPts val="1200"/>
              </a:spcAft>
              <a:defRPr sz="1400" b="1">
                <a:solidFill>
                  <a:srgbClr val="F3F4F6"/>
                </a:solidFill>
              </a:defRPr>
            </a:pPr>
            <a:r>
              <a:rPr dirty="0"/>
              <a:t>•  Trigger Flow: </a:t>
            </a:r>
            <a:r>
              <a:rPr b="0" dirty="0">
                <a:solidFill>
                  <a:srgbClr val="9CA3AF"/>
                </a:solidFill>
              </a:rPr>
              <a:t>Pantry door sensor activates the camera, captures a short image, and transmits a simple event label + timestamp over BLE/Serial.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FB923C"/>
                </a:solidFill>
                <a:latin typeface="Arial"/>
              </a:defRPr>
            </a:pPr>
            <a:r>
              <a:rPr dirty="0"/>
              <a:t>Target Hardware Constraints</a:t>
            </a:r>
          </a:p>
          <a:p>
            <a:pPr>
              <a:spcAft>
                <a:spcPts val="1200"/>
              </a:spcAft>
              <a:defRPr sz="1400" b="1">
                <a:solidFill>
                  <a:srgbClr val="F3F4F6"/>
                </a:solidFill>
              </a:defRPr>
            </a:pPr>
            <a:r>
              <a:rPr dirty="0"/>
              <a:t>•  Processor: </a:t>
            </a:r>
            <a:r>
              <a:rPr b="0" dirty="0">
                <a:solidFill>
                  <a:srgbClr val="9CA3AF"/>
                </a:solidFill>
              </a:rPr>
              <a:t>ARM Cortex-M4F microcontroller running at 64 </a:t>
            </a:r>
            <a:r>
              <a:rPr b="0" dirty="0" err="1">
                <a:solidFill>
                  <a:srgbClr val="9CA3AF"/>
                </a:solidFill>
              </a:rPr>
              <a:t>MHz.</a:t>
            </a:r>
            <a:endParaRPr b="0" dirty="0">
              <a:solidFill>
                <a:srgbClr val="9CA3AF"/>
              </a:solidFill>
            </a:endParaRPr>
          </a:p>
          <a:p>
            <a:pPr>
              <a:spcAft>
                <a:spcPts val="1200"/>
              </a:spcAft>
              <a:defRPr sz="1400" b="1">
                <a:solidFill>
                  <a:srgbClr val="F3F4F6"/>
                </a:solidFill>
              </a:defRPr>
            </a:pPr>
            <a:r>
              <a:rPr dirty="0"/>
              <a:t>•  Flash Memory: </a:t>
            </a:r>
            <a:r>
              <a:rPr b="0" dirty="0">
                <a:solidFill>
                  <a:srgbClr val="9CA3AF"/>
                </a:solidFill>
              </a:rPr>
              <a:t>1 MB - plenty of space for compiling optimized neural net binaries.</a:t>
            </a:r>
          </a:p>
          <a:p>
            <a:pPr>
              <a:spcAft>
                <a:spcPts val="1200"/>
              </a:spcAft>
              <a:defRPr sz="1400" b="1">
                <a:solidFill>
                  <a:srgbClr val="F3F4F6"/>
                </a:solidFill>
              </a:defRPr>
            </a:pPr>
            <a:r>
              <a:rPr dirty="0"/>
              <a:t>•  SRAM Memory: </a:t>
            </a:r>
            <a:r>
              <a:rPr b="0" dirty="0">
                <a:solidFill>
                  <a:srgbClr val="9CA3AF"/>
                </a:solidFill>
              </a:rPr>
              <a:t>256 KB total. Crucially, </a:t>
            </a:r>
            <a:r>
              <a:rPr b="0" dirty="0" err="1">
                <a:solidFill>
                  <a:srgbClr val="9CA3AF"/>
                </a:solidFill>
              </a:rPr>
              <a:t>Mbed</a:t>
            </a:r>
            <a:r>
              <a:rPr b="0" dirty="0">
                <a:solidFill>
                  <a:srgbClr val="9CA3AF"/>
                </a:solidFill>
              </a:rPr>
              <a:t> OS and BLE firmware consume ~120-160 KB, leaving only 80-100 KB for model activations!</a:t>
            </a:r>
          </a:p>
          <a:p>
            <a:pPr>
              <a:spcAft>
                <a:spcPts val="1200"/>
              </a:spcAft>
              <a:defRPr sz="1400" b="1">
                <a:solidFill>
                  <a:srgbClr val="F3F4F6"/>
                </a:solidFill>
              </a:defRPr>
            </a:pPr>
            <a:r>
              <a:rPr dirty="0"/>
              <a:t>•  Sensor: </a:t>
            </a:r>
            <a:r>
              <a:rPr b="0" dirty="0">
                <a:solidFill>
                  <a:srgbClr val="9CA3AF"/>
                </a:solidFill>
              </a:rPr>
              <a:t>OV7675 image sensor capturing low-resolution QQVGA frames.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rial"/>
              </a:defRPr>
            </a:pPr>
            <a:r>
              <a:t>TINYML SMART PANTRY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Arial"/>
              </a:defRPr>
            </a:pPr>
            <a:r>
              <a:t>Model Design Iterations &amp; Optimization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2918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 b="1">
                <a:solidFill>
                  <a:srgbClr val="F3F4F6"/>
                </a:solidFill>
                <a:latin typeface="Arial"/>
              </a:defRPr>
            </a:pPr>
            <a:r>
              <a:rPr dirty="0"/>
              <a:t>3-Layer Grayscale</a:t>
            </a:r>
          </a:p>
          <a:p>
            <a:pPr>
              <a:spcAft>
                <a:spcPts val="1000"/>
              </a:spcAft>
              <a:defRPr sz="1300">
                <a:solidFill>
                  <a:srgbClr val="9CA3AF"/>
                </a:solidFill>
                <a:latin typeface="Arial"/>
              </a:defRPr>
            </a:pPr>
            <a:r>
              <a:rPr dirty="0"/>
              <a:t>•  Input: 96x96x1 (Grayscale)</a:t>
            </a:r>
          </a:p>
          <a:p>
            <a:pPr>
              <a:spcAft>
                <a:spcPts val="1000"/>
              </a:spcAft>
              <a:defRPr sz="1300">
                <a:solidFill>
                  <a:srgbClr val="9CA3AF"/>
                </a:solidFill>
                <a:latin typeface="Arial"/>
              </a:defRPr>
            </a:pPr>
            <a:r>
              <a:rPr dirty="0"/>
              <a:t>•  Architecture: 3 Conv2D layers with Batch Normalization &amp; </a:t>
            </a:r>
            <a:r>
              <a:rPr dirty="0" err="1"/>
              <a:t>ReLU</a:t>
            </a:r>
            <a:endParaRPr dirty="0"/>
          </a:p>
          <a:p>
            <a:pPr>
              <a:spcAft>
                <a:spcPts val="1000"/>
              </a:spcAft>
              <a:defRPr sz="1300">
                <a:solidFill>
                  <a:srgbClr val="9CA3AF"/>
                </a:solidFill>
                <a:latin typeface="Arial"/>
              </a:defRPr>
            </a:pPr>
            <a:r>
              <a:rPr dirty="0"/>
              <a:t>•  Knowledge Distillation: Student model trained to mimic a larger MobileNetV2 RGB teacher</a:t>
            </a:r>
          </a:p>
          <a:p>
            <a:pPr>
              <a:spcAft>
                <a:spcPts val="1000"/>
              </a:spcAft>
              <a:defRPr sz="1300">
                <a:solidFill>
                  <a:srgbClr val="9CA3AF"/>
                </a:solidFill>
                <a:latin typeface="Arial"/>
              </a:defRPr>
            </a:pPr>
            <a:r>
              <a:rPr dirty="0"/>
              <a:t>•  Quantization: Post-training quantized to 8-bit integer weights/activations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645920"/>
            <a:ext cx="32918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17720" y="192024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 b="1">
                <a:solidFill>
                  <a:srgbClr val="2DD4BF"/>
                </a:solidFill>
                <a:latin typeface="Arial"/>
              </a:defRPr>
            </a:pPr>
            <a:r>
              <a:t>3-Layer RGB</a:t>
            </a:r>
          </a:p>
          <a:p>
            <a:pPr>
              <a:spcAft>
                <a:spcPts val="1000"/>
              </a:spcAft>
              <a:defRPr sz="1300">
                <a:solidFill>
                  <a:srgbClr val="9CA3AF"/>
                </a:solidFill>
                <a:latin typeface="Arial"/>
              </a:defRPr>
            </a:pPr>
            <a:r>
              <a:t>•  Input: 96x96x3 (RGB Color)</a:t>
            </a:r>
          </a:p>
          <a:p>
            <a:pPr>
              <a:spcAft>
                <a:spcPts val="1000"/>
              </a:spcAft>
              <a:defRPr sz="1300">
                <a:solidFill>
                  <a:srgbClr val="9CA3AF"/>
                </a:solidFill>
                <a:latin typeface="Arial"/>
              </a:defRPr>
            </a:pPr>
            <a:r>
              <a:t>•  Architecture: 3 Conv2D layers with Batch Normalization &amp; ReLU</a:t>
            </a:r>
          </a:p>
          <a:p>
            <a:pPr>
              <a:spcAft>
                <a:spcPts val="1000"/>
              </a:spcAft>
              <a:defRPr sz="1300">
                <a:solidFill>
                  <a:srgbClr val="9CA3AF"/>
                </a:solidFill>
                <a:latin typeface="Arial"/>
              </a:defRPr>
            </a:pPr>
            <a:r>
              <a:t>•  Why Color: Added RGB channels to provide color boundaries (essential for telling foods apart)</a:t>
            </a:r>
          </a:p>
          <a:p>
            <a:pPr>
              <a:spcAft>
                <a:spcPts val="1000"/>
              </a:spcAft>
              <a:defRPr sz="1300">
                <a:solidFill>
                  <a:srgbClr val="9CA3AF"/>
                </a:solidFill>
                <a:latin typeface="Arial"/>
              </a:defRPr>
            </a:pPr>
            <a:r>
              <a:t>•  Quantization: Quantization-aware training (QAT) to maintain accuracy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2918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75320" y="192024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 b="1">
                <a:solidFill>
                  <a:srgbClr val="FB923C"/>
                </a:solidFill>
                <a:latin typeface="Arial"/>
              </a:defRPr>
            </a:pPr>
            <a:r>
              <a:t>4-Layer RGB</a:t>
            </a:r>
          </a:p>
          <a:p>
            <a:pPr>
              <a:spcAft>
                <a:spcPts val="1000"/>
              </a:spcAft>
              <a:defRPr sz="1300">
                <a:solidFill>
                  <a:srgbClr val="9CA3AF"/>
                </a:solidFill>
                <a:latin typeface="Arial"/>
              </a:defRPr>
            </a:pPr>
            <a:r>
              <a:t>•  Input: 96x96x3 (RGB Color)</a:t>
            </a:r>
          </a:p>
          <a:p>
            <a:pPr>
              <a:spcAft>
                <a:spcPts val="1000"/>
              </a:spcAft>
              <a:defRPr sz="1300">
                <a:solidFill>
                  <a:srgbClr val="9CA3AF"/>
                </a:solidFill>
                <a:latin typeface="Arial"/>
              </a:defRPr>
            </a:pPr>
            <a:r>
              <a:t>•  Architecture: Expanded to 4 Conv2D layers for higher capacity</a:t>
            </a:r>
          </a:p>
          <a:p>
            <a:pPr>
              <a:spcAft>
                <a:spcPts val="1000"/>
              </a:spcAft>
              <a:defRPr sz="1300">
                <a:solidFill>
                  <a:srgbClr val="9CA3AF"/>
                </a:solidFill>
                <a:latin typeface="Arial"/>
              </a:defRPr>
            </a:pPr>
            <a:r>
              <a:t>•  Goal: Squeeze maximum capacity to correctly classify complex dishes</a:t>
            </a:r>
          </a:p>
          <a:p>
            <a:pPr>
              <a:spcAft>
                <a:spcPts val="1000"/>
              </a:spcAft>
              <a:defRPr sz="1300">
                <a:solidFill>
                  <a:srgbClr val="9CA3AF"/>
                </a:solidFill>
                <a:latin typeface="Arial"/>
              </a:defRPr>
            </a:pPr>
            <a:r>
              <a:t>•  Quantization: QAT to INT8 for local deployment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rial"/>
              </a:defRPr>
            </a:pPr>
            <a:r>
              <a:t>TINYML SMART PANTRY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Arial"/>
              </a:defRPr>
            </a:pPr>
            <a:r>
              <a:rPr dirty="0"/>
              <a:t>Model Architecture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2918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3-layer gray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4" y="1645920"/>
            <a:ext cx="1993392" cy="4389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389120" y="1645920"/>
            <a:ext cx="32918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3-layer rg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9824" y="1645920"/>
            <a:ext cx="1170432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046720" y="1645920"/>
            <a:ext cx="32918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8" descr="4-layer rgb.png">
            <a:extLst>
              <a:ext uri="{FF2B5EF4-FFF2-40B4-BE49-F238E27FC236}">
                <a16:creationId xmlns:a16="http://schemas.microsoft.com/office/drawing/2014/main" id="{FEF68220-880B-B7EA-BB48-425BEA1D40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7424" y="1645920"/>
            <a:ext cx="1170432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rial"/>
              </a:defRPr>
            </a:pPr>
            <a:r>
              <a:t>TINYML SMART PANTRY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Arial"/>
              </a:defRPr>
            </a:pPr>
            <a:r>
              <a:t>The Results &amp; The Physical SRAM Wall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9173598"/>
              </p:ext>
            </p:extLst>
          </p:nvPr>
        </p:nvGraphicFramePr>
        <p:xfrm>
          <a:off x="731520" y="1645920"/>
          <a:ext cx="10698480" cy="274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41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18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49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75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71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2DD4BF"/>
                          </a:solidFill>
                          <a:latin typeface="Arial"/>
                        </a:defRPr>
                      </a:pPr>
                      <a:r>
                        <a:t>Model Configuration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2DD4BF"/>
                          </a:solidFill>
                          <a:latin typeface="Arial"/>
                        </a:defRPr>
                      </a:pPr>
                      <a:r>
                        <a:t>Input Space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2DD4BF"/>
                          </a:solidFill>
                          <a:latin typeface="Arial"/>
                        </a:defRPr>
                      </a:pPr>
                      <a:r>
                        <a:t>Val Accuracy (QAT)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2DD4BF"/>
                          </a:solidFill>
                          <a:latin typeface="Arial"/>
                        </a:defRPr>
                      </a:pPr>
                      <a:r>
                        <a:t>Binary Size (Flash)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1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3F4F6"/>
                          </a:solidFill>
                          <a:latin typeface="Arial"/>
                        </a:defRPr>
                      </a:pPr>
                      <a:r>
                        <a:rPr dirty="0"/>
                        <a:t>3-Layer Grayscale (Distilled)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3F4F6"/>
                          </a:solidFill>
                          <a:latin typeface="Arial"/>
                        </a:defRPr>
                      </a:pPr>
                      <a:r>
                        <a:t>96x96x1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3F4F6"/>
                          </a:solidFill>
                          <a:latin typeface="Arial"/>
                        </a:defRPr>
                      </a:pPr>
                      <a:r>
                        <a:t>45.6%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3F4F6"/>
                          </a:solidFill>
                          <a:latin typeface="Arial"/>
                        </a:defRPr>
                      </a:pPr>
                      <a:r>
                        <a:t>~149 KB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71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3F4F6"/>
                          </a:solidFill>
                          <a:latin typeface="Arial"/>
                        </a:defRPr>
                      </a:pPr>
                      <a:r>
                        <a:t>3-Layer RGB (Float)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3F4F6"/>
                          </a:solidFill>
                          <a:latin typeface="Arial"/>
                        </a:defRPr>
                      </a:pPr>
                      <a:r>
                        <a:t>96x96x3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3F4F6"/>
                          </a:solidFill>
                          <a:latin typeface="Arial"/>
                        </a:defRPr>
                      </a:pPr>
                      <a:r>
                        <a:t>58.0%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3F4F6"/>
                          </a:solidFill>
                          <a:latin typeface="Arial"/>
                        </a:defRPr>
                      </a:pPr>
                      <a:r>
                        <a:t>~150 KB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71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3F4F6"/>
                          </a:solidFill>
                          <a:latin typeface="Arial"/>
                        </a:defRPr>
                      </a:pPr>
                      <a:r>
                        <a:rPr dirty="0"/>
                        <a:t>4-Layer RGB (Best Capacity)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3F4F6"/>
                          </a:solidFill>
                          <a:latin typeface="Arial"/>
                        </a:defRPr>
                      </a:pPr>
                      <a:r>
                        <a:t>96x96x3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3F4F6"/>
                          </a:solidFill>
                          <a:latin typeface="Arial"/>
                        </a:defRPr>
                      </a:pPr>
                      <a:r>
                        <a:t>72.2%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3F4F6"/>
                          </a:solidFill>
                          <a:latin typeface="Arial"/>
                        </a:defRPr>
                      </a:pPr>
                      <a:r>
                        <a:rPr dirty="0"/>
                        <a:t>~150 KB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31520" y="4663440"/>
            <a:ext cx="10698480" cy="1371600"/>
          </a:xfrm>
          <a:prstGeom prst="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4754880"/>
            <a:ext cx="10149840" cy="1041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B923C"/>
                </a:solidFill>
                <a:latin typeface="Arial"/>
              </a:defRPr>
            </a:pPr>
            <a:r>
              <a:rPr dirty="0"/>
              <a:t>Critical Bottleneck Analysis: RAM vs. Flash</a:t>
            </a:r>
          </a:p>
          <a:p>
            <a:pPr>
              <a:defRPr sz="1300">
                <a:solidFill>
                  <a:srgbClr val="9CA3AF"/>
                </a:solidFill>
                <a:latin typeface="Arial"/>
              </a:defRPr>
            </a:pPr>
            <a:r>
              <a:rPr dirty="0"/>
              <a:t>In </a:t>
            </a:r>
            <a:r>
              <a:rPr dirty="0" err="1"/>
              <a:t>TinyML</a:t>
            </a:r>
            <a:r>
              <a:rPr dirty="0"/>
              <a:t>, model binary size (stored in Flash) is rarely the primary constraint; activation memory (RAM) is the hard boundary. While our 4-layer RGB model compressed to 150 KB and easily fit within the 1 MB Flash, its peak activation tensors required ~323 KB. This far exceeds the available SRAM on the Arduino, causing compilation and runtime allocation failures.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rial"/>
              </a:defRPr>
            </a:pPr>
            <a:r>
              <a:t>TINYML SMART PANTRY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Arial"/>
              </a:defRPr>
            </a:pPr>
            <a:r>
              <a:t>The Pivot &amp; Dataset Domain Gaps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2DD4BF"/>
                </a:solidFill>
                <a:latin typeface="Arial"/>
              </a:defRPr>
            </a:pPr>
            <a:r>
              <a:t>The Pivot: Pizza vs. Apple Pie</a:t>
            </a:r>
          </a:p>
          <a:p>
            <a:pPr>
              <a:spcAft>
                <a:spcPts val="1200"/>
              </a:spcAft>
              <a:defRPr sz="1400" b="1">
                <a:solidFill>
                  <a:srgbClr val="F3F4F6"/>
                </a:solidFill>
              </a:defRPr>
            </a:pPr>
            <a:r>
              <a:t>•  Binary Scope: </a:t>
            </a:r>
            <a:r>
              <a:rPr b="0">
                <a:solidFill>
                  <a:srgbClr val="9CA3AF"/>
                </a:solidFill>
              </a:rPr>
              <a:t>To bypass memory constraints, we reduced the problem to a simple binary task (Pizza vs. Apple Pie).</a:t>
            </a:r>
          </a:p>
          <a:p>
            <a:pPr>
              <a:spcAft>
                <a:spcPts val="1200"/>
              </a:spcAft>
              <a:defRPr sz="1400" b="1">
                <a:solidFill>
                  <a:srgbClr val="F3F4F6"/>
                </a:solidFill>
              </a:defRPr>
            </a:pPr>
            <a:r>
              <a:t>•  Feature Overlap: </a:t>
            </a:r>
            <a:r>
              <a:rPr b="0">
                <a:solidFill>
                  <a:srgbClr val="9CA3AF"/>
                </a:solidFill>
              </a:rPr>
              <a:t>Both foods are round, crust-based, and baked. Distinguishing them without color (grayscale) and at 96x96 resolution remained highly unreliable.</a:t>
            </a:r>
          </a:p>
          <a:p>
            <a:pPr>
              <a:spcAft>
                <a:spcPts val="1200"/>
              </a:spcAft>
              <a:defRPr sz="1400" b="1">
                <a:solidFill>
                  <a:srgbClr val="F3F4F6"/>
                </a:solidFill>
              </a:defRPr>
            </a:pPr>
            <a:r>
              <a:t>•  Resolution Limits: </a:t>
            </a:r>
            <a:r>
              <a:rPr b="0">
                <a:solidFill>
                  <a:srgbClr val="9CA3AF"/>
                </a:solidFill>
              </a:rPr>
              <a:t>96x96 resolution completely washes away the fine texture detail required to identify structural features of dishes.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FB923C"/>
                </a:solidFill>
                <a:latin typeface="Arial"/>
              </a:defRPr>
            </a:pPr>
            <a:r>
              <a:t>Dataset Domain Mismatch</a:t>
            </a:r>
          </a:p>
          <a:p>
            <a:pPr>
              <a:spcAft>
                <a:spcPts val="1200"/>
              </a:spcAft>
              <a:defRPr sz="1400" b="1">
                <a:solidFill>
                  <a:srgbClr val="F3F4F6"/>
                </a:solidFill>
              </a:defRPr>
            </a:pPr>
            <a:r>
              <a:t>•  Generalist Data: </a:t>
            </a:r>
            <a:r>
              <a:rPr b="0">
                <a:solidFill>
                  <a:srgbClr val="9CA3AF"/>
                </a:solidFill>
              </a:rPr>
              <a:t>Food-101 is web-scraped for general computer vision tasks, not industrial edge sensors.</a:t>
            </a:r>
          </a:p>
          <a:p>
            <a:pPr>
              <a:spcAft>
                <a:spcPts val="1200"/>
              </a:spcAft>
              <a:defRPr sz="1400" b="1">
                <a:solidFill>
                  <a:srgbClr val="F3F4F6"/>
                </a:solidFill>
              </a:defRPr>
            </a:pPr>
            <a:r>
              <a:t>•  Label Noise: </a:t>
            </a:r>
            <a:r>
              <a:rPr b="0">
                <a:solidFill>
                  <a:srgbClr val="9CA3AF"/>
                </a:solidFill>
              </a:rPr>
              <a:t>Many images contain busy backgrounds, macro shots, or people (e.g. a person taking a selfie with a cake is labeled 'cheesecake').</a:t>
            </a:r>
          </a:p>
          <a:p>
            <a:pPr>
              <a:spcAft>
                <a:spcPts val="1200"/>
              </a:spcAft>
              <a:defRPr sz="1400" b="1">
                <a:solidFill>
                  <a:srgbClr val="F3F4F6"/>
                </a:solidFill>
              </a:defRPr>
            </a:pPr>
            <a:r>
              <a:t>•  Pantry Gap: </a:t>
            </a:r>
            <a:r>
              <a:rPr b="0">
                <a:solidFill>
                  <a:srgbClr val="9CA3AF"/>
                </a:solidFill>
              </a:rPr>
              <a:t>A network trained on diverse web photos cannot bridge the domain gap to top-down, fixed-lighting pantry camera captures.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rial"/>
              </a:defRPr>
            </a:pPr>
            <a:r>
              <a:t>TINYML SMART PANTRY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Arial"/>
              </a:defRPr>
            </a:pPr>
            <a:r>
              <a:t>Demo: What the Hardware Actually Sees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05050A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30864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2DD4BF"/>
                </a:solidFill>
                <a:latin typeface="Consolas"/>
              </a:defRPr>
            </a:pPr>
            <a:r>
              <a:rPr lang="en-US" altLang="zh-TW" dirty="0"/>
              <a:t>A</a:t>
            </a:r>
            <a:r>
              <a:rPr lang="zh-TW" altLang="en-US" dirty="0"/>
              <a:t> </a:t>
            </a:r>
            <a:r>
              <a:rPr lang="en-US" altLang="zh-TW" dirty="0"/>
              <a:t>PIZZA</a:t>
            </a:r>
            <a:r>
              <a:rPr lang="zh-TW" altLang="en-US" dirty="0"/>
              <a:t> </a:t>
            </a:r>
            <a:r>
              <a:rPr lang="en-US" altLang="zh-TW" dirty="0"/>
              <a:t>(a pizza… right?)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 b="1">
                <a:solidFill>
                  <a:srgbClr val="F3F4F6"/>
                </a:solidFill>
                <a:latin typeface="Arial"/>
              </a:defRPr>
            </a:pPr>
            <a:r>
              <a:rPr dirty="0"/>
              <a:t>The Reality of 'Hardware Eye'</a:t>
            </a:r>
          </a:p>
          <a:p>
            <a:pPr>
              <a:spcAft>
                <a:spcPts val="1200"/>
              </a:spcAft>
              <a:defRPr sz="1400" b="1">
                <a:solidFill>
                  <a:srgbClr val="2DD4BF"/>
                </a:solidFill>
              </a:defRPr>
            </a:pPr>
            <a:r>
              <a:rPr dirty="0"/>
              <a:t>•  On-Device Print: </a:t>
            </a:r>
            <a:r>
              <a:rPr b="0" dirty="0">
                <a:solidFill>
                  <a:srgbClr val="9CA3AF"/>
                </a:solidFill>
              </a:rPr>
              <a:t>Generated directly on the Arduino Nano using our </a:t>
            </a:r>
            <a:r>
              <a:rPr b="0" dirty="0" err="1">
                <a:solidFill>
                  <a:srgbClr val="9CA3AF"/>
                </a:solidFill>
              </a:rPr>
              <a:t>visualDebugPrint</a:t>
            </a:r>
            <a:r>
              <a:rPr b="0" dirty="0">
                <a:solidFill>
                  <a:srgbClr val="9CA3AF"/>
                </a:solidFill>
              </a:rPr>
              <a:t>() helper, which outputs a 24x24 ASCII grid </a:t>
            </a:r>
            <a:r>
              <a:rPr b="0" dirty="0" err="1">
                <a:solidFill>
                  <a:srgbClr val="9CA3AF"/>
                </a:solidFill>
              </a:rPr>
              <a:t>downsampled</a:t>
            </a:r>
            <a:r>
              <a:rPr b="0" dirty="0">
                <a:solidFill>
                  <a:srgbClr val="9CA3AF"/>
                </a:solidFill>
              </a:rPr>
              <a:t> from the 96x96 grayscale buffer.</a:t>
            </a:r>
          </a:p>
          <a:p>
            <a:pPr>
              <a:spcAft>
                <a:spcPts val="1200"/>
              </a:spcAft>
              <a:defRPr sz="1400" b="1">
                <a:solidFill>
                  <a:srgbClr val="2DD4BF"/>
                </a:solidFill>
              </a:defRPr>
            </a:pPr>
            <a:r>
              <a:rPr dirty="0"/>
              <a:t>•  Contrast &amp; Scale: </a:t>
            </a:r>
            <a:r>
              <a:rPr b="0" dirty="0">
                <a:solidFill>
                  <a:srgbClr val="9CA3AF"/>
                </a:solidFill>
              </a:rPr>
              <a:t>Highlights the blocky, low-contrast grayscale crop that the model is forced to interpret.</a:t>
            </a:r>
          </a:p>
          <a:p>
            <a:pPr>
              <a:spcAft>
                <a:spcPts val="1200"/>
              </a:spcAft>
              <a:defRPr sz="1400" b="1">
                <a:solidFill>
                  <a:srgbClr val="2DD4BF"/>
                </a:solidFill>
              </a:defRPr>
            </a:pPr>
            <a:r>
              <a:rPr dirty="0"/>
              <a:t>•  Explainable Failure: </a:t>
            </a:r>
            <a:r>
              <a:rPr b="0" dirty="0">
                <a:solidFill>
                  <a:srgbClr val="9CA3AF"/>
                </a:solidFill>
              </a:rPr>
              <a:t>Visualizing this input makes it immediately clear why classification fails: color, edge, and texture details are completely washed away, leaving only generic shapes.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EE1DD6DD-FE0E-ECD8-2CA2-40E99842E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067" y="2199448"/>
            <a:ext cx="3326462" cy="35612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rial"/>
              </a:defRPr>
            </a:pPr>
            <a:r>
              <a:t>TINYML SMART PANTRY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Arial"/>
              </a:defRPr>
            </a:pPr>
            <a:r>
              <a:t>Real Snapshot: Reality vs. Camera 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85216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omparison of reality and what camera se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83080"/>
            <a:ext cx="5486400" cy="4114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949440" y="1645920"/>
            <a:ext cx="448056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23760" y="1920240"/>
            <a:ext cx="3931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 b="1">
                <a:solidFill>
                  <a:srgbClr val="F3F4F6"/>
                </a:solidFill>
                <a:latin typeface="Arial"/>
              </a:defRPr>
            </a:pPr>
            <a:r>
              <a:t>Visual Gap in Practice</a:t>
            </a:r>
          </a:p>
          <a:p>
            <a:pPr>
              <a:spcAft>
                <a:spcPts val="1200"/>
              </a:spcAft>
              <a:defRPr sz="1400" b="1">
                <a:solidFill>
                  <a:srgbClr val="2DD4BF"/>
                </a:solidFill>
              </a:defRPr>
            </a:pPr>
            <a:r>
              <a:t>•  Human Perspective: </a:t>
            </a:r>
            <a:r>
              <a:rPr b="0">
                <a:solidFill>
                  <a:srgbClr val="9CA3AF"/>
                </a:solidFill>
              </a:rPr>
              <a:t>Full-resolution, high-contrast, color-rich image where food details and boundaries are distinct.</a:t>
            </a:r>
          </a:p>
          <a:p>
            <a:pPr>
              <a:spcAft>
                <a:spcPts val="1200"/>
              </a:spcAft>
              <a:defRPr sz="1400" b="1">
                <a:solidFill>
                  <a:srgbClr val="2DD4BF"/>
                </a:solidFill>
              </a:defRPr>
            </a:pPr>
            <a:r>
              <a:t>•  Microcontroller View: </a:t>
            </a:r>
            <a:r>
              <a:rPr b="0">
                <a:solidFill>
                  <a:srgbClr val="9CA3AF"/>
                </a:solidFill>
              </a:rPr>
              <a:t>Grayscale, 96x96 resolution downsampled image where colors merge and edges blur.</a:t>
            </a:r>
          </a:p>
          <a:p>
            <a:pPr>
              <a:spcAft>
                <a:spcPts val="1200"/>
              </a:spcAft>
              <a:defRPr sz="1400" b="1">
                <a:solidFill>
                  <a:srgbClr val="2DD4BF"/>
                </a:solidFill>
              </a:defRPr>
            </a:pPr>
            <a:r>
              <a:t>•  Why It Matters: </a:t>
            </a:r>
            <a:r>
              <a:rPr b="0">
                <a:solidFill>
                  <a:srgbClr val="9CA3AF"/>
                </a:solidFill>
              </a:rPr>
              <a:t>Differentiating complex dishes like pizza vs. cheesecake requires color and texture. When reduced to a blocky silhouette, the classification boundaries overlap completely, leading to high-uncertainty predictions.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6400" b="1">
                <a:solidFill>
                  <a:srgbClr val="2DD4BF"/>
                </a:solidFill>
                <a:latin typeface="Arial"/>
              </a:defRPr>
            </a:pPr>
            <a:r>
              <a:t>DEMO TIME!</a:t>
            </a:r>
          </a:p>
          <a:p>
            <a:pPr algn="ctr">
              <a:defRPr sz="1800">
                <a:solidFill>
                  <a:srgbClr val="9CA3AF"/>
                </a:solidFill>
                <a:latin typeface="Arial"/>
              </a:defRPr>
            </a:pPr>
            <a:r>
              <a:t>Let's watch the real-time pantry logging in action...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rial"/>
              </a:defRPr>
            </a:pPr>
            <a:r>
              <a:t>TINYML SMART PANTRY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Arial"/>
              </a:defRPr>
            </a:pPr>
            <a:r>
              <a:t>Lessons Learned &amp; Edge CV Realities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2DD4BF"/>
                </a:solidFill>
                <a:latin typeface="Arial"/>
              </a:defRPr>
            </a:pPr>
            <a:r>
              <a:t>Key Takeaways</a:t>
            </a:r>
          </a:p>
          <a:p>
            <a:pPr>
              <a:spcAft>
                <a:spcPts val="1200"/>
              </a:spcAft>
              <a:defRPr sz="1400" b="1">
                <a:solidFill>
                  <a:srgbClr val="F3F4F6"/>
                </a:solidFill>
              </a:defRPr>
            </a:pPr>
            <a:r>
              <a:t>•  RAM is the Hard Constraint: </a:t>
            </a:r>
            <a:r>
              <a:rPr b="0">
                <a:solidFill>
                  <a:srgbClr val="9CA3AF"/>
                </a:solidFill>
              </a:rPr>
              <a:t>In TinyML, memory footprint of weights (Flash) is secondary. Activation tensors (RAM) determine model feasibility.</a:t>
            </a:r>
          </a:p>
          <a:p>
            <a:pPr>
              <a:spcAft>
                <a:spcPts val="1200"/>
              </a:spcAft>
              <a:defRPr sz="1400" b="1">
                <a:solidFill>
                  <a:srgbClr val="F3F4F6"/>
                </a:solidFill>
              </a:defRPr>
            </a:pPr>
            <a:r>
              <a:t>•  Sufficient Feature Size: </a:t>
            </a:r>
            <a:r>
              <a:rPr b="0">
                <a:solidFill>
                  <a:srgbClr val="9CA3AF"/>
                </a:solidFill>
              </a:rPr>
              <a:t>Vision classification requires minimum information capacity. Grayscale 96x96 images lack the entropy required to differentiate complex dishes.</a:t>
            </a:r>
          </a:p>
          <a:p>
            <a:pPr>
              <a:spcAft>
                <a:spcPts val="1200"/>
              </a:spcAft>
              <a:defRPr sz="1400" b="1">
                <a:solidFill>
                  <a:srgbClr val="F3F4F6"/>
                </a:solidFill>
              </a:defRPr>
            </a:pPr>
            <a:r>
              <a:t>•  Constraint-Driven Scope: </a:t>
            </a:r>
            <a:r>
              <a:rPr b="0">
                <a:solidFill>
                  <a:srgbClr val="9CA3AF"/>
                </a:solidFill>
              </a:rPr>
              <a:t>CV on sub-256KB RAM devices is only practical for high-contrast, geometric shapes under rigid lighting (e.g., bar codes, simple gestures).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FB923C"/>
                </a:solidFill>
                <a:latin typeface="Arial"/>
              </a:defRPr>
            </a:pPr>
            <a:r>
              <a:t>Future Directions</a:t>
            </a:r>
          </a:p>
          <a:p>
            <a:pPr>
              <a:spcAft>
                <a:spcPts val="1200"/>
              </a:spcAft>
              <a:defRPr sz="1400" b="1">
                <a:solidFill>
                  <a:srgbClr val="F3F4F6"/>
                </a:solidFill>
              </a:defRPr>
            </a:pPr>
            <a:r>
              <a:t>•  Hardware Upgrades: </a:t>
            </a:r>
            <a:r>
              <a:rPr b="0">
                <a:solidFill>
                  <a:srgbClr val="9CA3AF"/>
                </a:solidFill>
              </a:rPr>
              <a:t>Select microcontrollers with external PSRAM (e.g., ESP32-S3) to support larger activation buffers without scaling down resolution.</a:t>
            </a:r>
          </a:p>
          <a:p>
            <a:pPr>
              <a:spcAft>
                <a:spcPts val="1200"/>
              </a:spcAft>
              <a:defRPr sz="1400" b="1">
                <a:solidFill>
                  <a:srgbClr val="F3F4F6"/>
                </a:solidFill>
              </a:defRPr>
            </a:pPr>
            <a:r>
              <a:t>•  Sensor Fusion: </a:t>
            </a:r>
            <a:r>
              <a:rPr b="0">
                <a:solidFill>
                  <a:srgbClr val="9CA3AF"/>
                </a:solidFill>
              </a:rPr>
              <a:t>Integrate low-power non-vision sensors, such as gas/volatile compound sensors, weight cells, or temperature sensors to track freshness directly.</a:t>
            </a:r>
          </a:p>
          <a:p>
            <a:pPr>
              <a:spcAft>
                <a:spcPts val="1200"/>
              </a:spcAft>
              <a:defRPr sz="1400" b="1">
                <a:solidFill>
                  <a:srgbClr val="F3F4F6"/>
                </a:solidFill>
              </a:defRPr>
            </a:pPr>
            <a:r>
              <a:t>•  Custom In-Situ Data: </a:t>
            </a:r>
            <a:r>
              <a:rPr b="0">
                <a:solidFill>
                  <a:srgbClr val="9CA3AF"/>
                </a:solidFill>
              </a:rPr>
              <a:t>Collect a custom in-situ dataset inside the fridge itself rather than relying on noisy web-scraped databases like Food-101.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1019</Words>
  <Application>Microsoft Office PowerPoint</Application>
  <PresentationFormat>寬螢幕</PresentationFormat>
  <Paragraphs>89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Miles Chin</cp:lastModifiedBy>
  <cp:revision>7</cp:revision>
  <dcterms:created xsi:type="dcterms:W3CDTF">2013-01-27T09:14:16Z</dcterms:created>
  <dcterms:modified xsi:type="dcterms:W3CDTF">2026-06-09T23:35:51Z</dcterms:modified>
  <cp:category/>
</cp:coreProperties>
</file>